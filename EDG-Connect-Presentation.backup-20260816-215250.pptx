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640080"/>
            <a:ext cx="822960" cy="822960"/>
          </a:xfrm>
          <a:prstGeom prst="roundRect">
            <a:avLst>
              <a:gd name="adj" fmla="val 6000"/>
            </a:avLst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B0F0D"/>
                </a:solidFill>
                <a:latin typeface="Segoe UI"/>
              </a:rPr>
              <a:t>EDG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62179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2C55E"/>
                </a:solidFill>
                <a:latin typeface="Segoe UI"/>
              </a:rPr>
              <a:t>EDG 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960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CA8A3"/>
                </a:solidFill>
                <a:latin typeface="Segoe UI"/>
              </a:rPr>
              <a:t>EDG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5F7F6"/>
                </a:solidFill>
                <a:latin typeface="Segoe UI"/>
              </a:rPr>
              <a:t>EDG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03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9CA8A3"/>
                </a:solidFill>
                <a:latin typeface="Segoe UI"/>
              </a:rPr>
              <a:t>Acteurs du système et cycle de vie du ticket, de la création à la clôture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429000"/>
            <a:ext cx="2194560" cy="54864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989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CA8A3"/>
                </a:solidFill>
                <a:latin typeface="Segoe UI"/>
              </a:rPr>
              <a:t>Présentation interne — plateforme de gestion des requêtes EDG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CA8A3"/>
                </a:solidFill>
                <a:latin typeface="Segoe UI"/>
              </a:rPr>
              <a:t>EDG Connect — Plateforme de gestion des requêtes EDG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CA8A3"/>
                </a:solidFill>
                <a:latin typeface="Segoe UI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C55E"/>
                </a:solidFill>
                <a:latin typeface="Segoe UI"/>
              </a:rPr>
              <a:t>ORGANISATION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6"/>
                </a:solidFill>
                <a:latin typeface="Segoe UI"/>
              </a:rPr>
              <a:t>Les acteurs du système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CA8A3"/>
                </a:solidFill>
                <a:latin typeface="Segoe UI"/>
              </a:rPr>
              <a:t>Trois catégories d'acteurs interagissent autour du ticket, selon leur position sur celui-ci — pas uniquement leur rôle.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3383280" cy="4160520"/>
          </a:xfrm>
          <a:prstGeom prst="roundRect">
            <a:avLst>
              <a:gd name="adj" fmla="val 6000"/>
            </a:avLst>
          </a:prstGeom>
          <a:solidFill>
            <a:srgbClr val="141A17"/>
          </a:solidFill>
          <a:ln w="12700">
            <a:solidFill>
              <a:srgbClr val="2A3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3383280" cy="8229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7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2C55E"/>
                </a:solidFill>
                <a:latin typeface="Segoe UI"/>
              </a:rP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243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CA8A3"/>
                </a:solidFill>
                <a:latin typeface="Segoe UI"/>
              </a:rPr>
              <a:t>Demandeur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546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F5F7F6"/>
                </a:solidFill>
                <a:latin typeface="Segoe UI"/>
              </a:rPr>
              <a:t>•  Crée un ticket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7647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F5F7F6"/>
                </a:solidFill>
                <a:latin typeface="Segoe UI"/>
              </a:rPr>
              <a:t>•  Consulte et suit ses tickets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398264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F5F7F6"/>
                </a:solidFill>
                <a:latin typeface="Segoe UI"/>
              </a:rPr>
              <a:t>•  Reçoit les notifications liées à ses tickets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020055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F5F7F6"/>
                </a:solidFill>
                <a:latin typeface="Segoe UI"/>
              </a:rPr>
              <a:t>•  Peut demander une réouverture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965960"/>
            <a:ext cx="3383280" cy="4160520"/>
          </a:xfrm>
          <a:prstGeom prst="roundRect">
            <a:avLst>
              <a:gd name="adj" fmla="val 6000"/>
            </a:avLst>
          </a:prstGeom>
          <a:solidFill>
            <a:srgbClr val="141A17"/>
          </a:solidFill>
          <a:ln w="12700">
            <a:solidFill>
              <a:srgbClr val="2A3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965960"/>
            <a:ext cx="3383280" cy="82296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24027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5C542"/>
                </a:solidFill>
                <a:latin typeface="Segoe UI"/>
              </a:rPr>
              <a:t>AGENT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6243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CA8A3"/>
                </a:solidFill>
                <a:latin typeface="Segoe UI"/>
              </a:rPr>
              <a:t>Intervenant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1546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F5F7F6"/>
                </a:solidFill>
                <a:latin typeface="Segoe UI"/>
              </a:rPr>
              <a:t>•  Reçoit et prend en charge des tickets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77647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F5F7F6"/>
                </a:solidFill>
                <a:latin typeface="Segoe UI"/>
              </a:rPr>
              <a:t>•  Traite, transmet à un autre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398264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F5F7F6"/>
                </a:solidFill>
                <a:latin typeface="Segoe UI"/>
              </a:rPr>
              <a:t>•  Résout le ticket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020055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F5F7F6"/>
                </a:solidFill>
                <a:latin typeface="Segoe UI"/>
              </a:rPr>
              <a:t>•  Peut aussi être demandeur de son propre ticket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9" y="1965960"/>
            <a:ext cx="3383280" cy="4160520"/>
          </a:xfrm>
          <a:prstGeom prst="roundRect">
            <a:avLst>
              <a:gd name="adj" fmla="val 6000"/>
            </a:avLst>
          </a:prstGeom>
          <a:solidFill>
            <a:srgbClr val="141A17"/>
          </a:solidFill>
          <a:ln w="12700">
            <a:solidFill>
              <a:srgbClr val="2A3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19" y="1965960"/>
            <a:ext cx="3383280" cy="82296"/>
          </a:xfrm>
          <a:prstGeom prst="rect">
            <a:avLst/>
          </a:prstGeom>
          <a:solidFill>
            <a:srgbClr val="9CA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19" y="224027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9CA8A3"/>
                </a:solidFill>
                <a:latin typeface="Segoe UI"/>
              </a:rPr>
              <a:t>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19" y="26243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CA8A3"/>
                </a:solidFill>
                <a:latin typeface="Segoe UI"/>
              </a:rPr>
              <a:t>Administration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19" y="31546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F5F7F6"/>
                </a:solidFill>
                <a:latin typeface="Segoe UI"/>
              </a:rPr>
              <a:t>•  Administration et supervision globale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19" y="377647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F5F7F6"/>
                </a:solidFill>
                <a:latin typeface="Segoe UI"/>
              </a:rPr>
              <a:t>•  Fonctionnalités inchangées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4398264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F5F7F6"/>
                </a:solidFill>
                <a:latin typeface="Segoe UI"/>
              </a:rPr>
              <a:t>•  Non concerné par les évolutions récentes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263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2C55E"/>
                </a:solidFill>
                <a:latin typeface="Segoe UI"/>
              </a:rPr>
              <a:t>Principe : la position sur le ticket (requester vs. intervenant) détermine la notification reçue — pas le rôle professionnel seul.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CA8A3"/>
                </a:solidFill>
                <a:latin typeface="Segoe UI"/>
              </a:rPr>
              <a:t>EDG Connect — Plateforme de gestion des requêtes EDG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CA8A3"/>
                </a:solidFill>
                <a:latin typeface="Segoe U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C55E"/>
                </a:solidFill>
                <a:latin typeface="Segoe UI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6"/>
                </a:solidFill>
                <a:latin typeface="Segoe UI"/>
              </a:rPr>
              <a:t>Cycle de vie du ticket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CA8A3"/>
                </a:solidFill>
                <a:latin typeface="Segoe UI"/>
              </a:rPr>
              <a:t>Quatre statuts métier, du dépôt de la demande jusqu'à sa clôture définitive.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8027" y="2331720"/>
            <a:ext cx="2331720" cy="1920240"/>
          </a:xfrm>
          <a:prstGeom prst="roundRect">
            <a:avLst>
              <a:gd name="adj" fmla="val 6000"/>
            </a:avLst>
          </a:prstGeom>
          <a:solidFill>
            <a:srgbClr val="141A17"/>
          </a:solidFill>
          <a:ln w="12700">
            <a:solidFill>
              <a:srgbClr val="9CA8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6627" y="2560320"/>
            <a:ext cx="201168" cy="201168"/>
          </a:xfrm>
          <a:prstGeom prst="ellipse">
            <a:avLst/>
          </a:prstGeom>
          <a:solidFill>
            <a:srgbClr val="9CA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0907" y="2834639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A8A3"/>
                </a:solidFill>
                <a:latin typeface="Segoe UI"/>
              </a:rPr>
              <a:t>NEW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0907" y="317296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F7F6"/>
                </a:solidFill>
                <a:latin typeface="Segoe UI"/>
              </a:rPr>
              <a:t>Création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0907" y="3520439"/>
            <a:ext cx="1965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9CA8A3"/>
                </a:solidFill>
                <a:latin typeface="Segoe UI"/>
              </a:rPr>
              <a:t>Ticket créé, placé en file d'attente — aucun traitement actif.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64611" y="3154679"/>
            <a:ext cx="393192" cy="274320"/>
          </a:xfrm>
          <a:prstGeom prst="rightArrow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12667" y="2331720"/>
            <a:ext cx="2331720" cy="1920240"/>
          </a:xfrm>
          <a:prstGeom prst="roundRect">
            <a:avLst>
              <a:gd name="adj" fmla="val 6000"/>
            </a:avLst>
          </a:prstGeom>
          <a:solidFill>
            <a:srgbClr val="141A17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41267" y="2560320"/>
            <a:ext cx="201168" cy="201168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95547" y="2834639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2C55E"/>
                </a:solidFill>
                <a:latin typeface="Segoe UI"/>
              </a:rPr>
              <a:t>IN_PROGRESS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5547" y="317296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F7F6"/>
                </a:solidFill>
                <a:latin typeface="Segoe UI"/>
              </a:rPr>
              <a:t>Traitement actif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5547" y="3520439"/>
            <a:ext cx="1965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9CA8A3"/>
                </a:solidFill>
                <a:latin typeface="Segoe UI"/>
              </a:rPr>
              <a:t>Prise en charge par un agent. Reste in_progress même en cas de transmission entre agents.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899251" y="3154679"/>
            <a:ext cx="393192" cy="274320"/>
          </a:xfrm>
          <a:prstGeom prst="rightArrow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47307" y="2331720"/>
            <a:ext cx="2331720" cy="1920240"/>
          </a:xfrm>
          <a:prstGeom prst="roundRect">
            <a:avLst>
              <a:gd name="adj" fmla="val 6000"/>
            </a:avLst>
          </a:prstGeom>
          <a:solidFill>
            <a:srgbClr val="141A17"/>
          </a:solidFill>
          <a:ln w="12700">
            <a:solidFill>
              <a:srgbClr val="F5C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75907" y="2560320"/>
            <a:ext cx="201168" cy="201168"/>
          </a:xfrm>
          <a:prstGeom prst="ellipse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0187" y="2834639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C542"/>
                </a:solidFill>
                <a:latin typeface="Segoe UI"/>
              </a:rPr>
              <a:t>RESOLVED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0187" y="317296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F7F6"/>
                </a:solidFill>
                <a:latin typeface="Segoe UI"/>
              </a:rPr>
              <a:t>Résolu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0187" y="3520439"/>
            <a:ext cx="1965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9CA8A3"/>
                </a:solidFill>
                <a:latin typeface="Segoe UI"/>
              </a:rPr>
              <a:t>L'agent considère le traitement terminé.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733891" y="3154679"/>
            <a:ext cx="393192" cy="274320"/>
          </a:xfrm>
          <a:prstGeom prst="rightArrow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81947" y="2331720"/>
            <a:ext cx="2331720" cy="1920240"/>
          </a:xfrm>
          <a:prstGeom prst="roundRect">
            <a:avLst>
              <a:gd name="adj" fmla="val 6000"/>
            </a:avLst>
          </a:prstGeom>
          <a:solidFill>
            <a:srgbClr val="141A17"/>
          </a:solidFill>
          <a:ln w="12700">
            <a:solidFill>
              <a:srgbClr val="6B7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0547" y="2560320"/>
            <a:ext cx="201168" cy="201168"/>
          </a:xfrm>
          <a:prstGeom prst="ellipse">
            <a:avLst/>
          </a:prstGeom>
          <a:solidFill>
            <a:srgbClr val="6B7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64827" y="2834639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6B7A74"/>
                </a:solidFill>
                <a:latin typeface="Segoe UI"/>
              </a:rPr>
              <a:t>CLOSED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64827" y="317296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F7F6"/>
                </a:solidFill>
                <a:latin typeface="Segoe UI"/>
              </a:rPr>
              <a:t>Clôturé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64827" y="3520439"/>
            <a:ext cx="1965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9CA8A3"/>
                </a:solidFill>
                <a:latin typeface="Segoe UI"/>
              </a:rPr>
              <a:t>Ticket définitivement clôturé.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8027" y="4754880"/>
            <a:ext cx="10835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5C542"/>
                </a:solidFill>
                <a:latin typeface="Segoe UI"/>
              </a:rPr>
              <a:t>Réouverture : resolved / closed  →  nouveau cycle  →  new (remis en file d'attente)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9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CA8A3"/>
                </a:solidFill>
                <a:latin typeface="Segoe UI"/>
              </a:rPr>
              <a:t>Note : le statut « pending » est retiré du workflow actif ; l'escalade est temporairement mise de côté.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CA8A3"/>
                </a:solidFill>
                <a:latin typeface="Segoe UI"/>
              </a:rPr>
              <a:t>EDG Connect — Plateforme de gestion des requêtes EDG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CA8A3"/>
                </a:solidFill>
                <a:latin typeface="Segoe U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C55E"/>
                </a:solidFill>
                <a:latin typeface="Segoe UI"/>
              </a:rPr>
              <a:t>NOTIFICATIONS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6"/>
                </a:solidFill>
                <a:latin typeface="Segoe UI"/>
              </a:rPr>
              <a:t>Statuts métier ↔ notifications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CA8A3"/>
                </a:solidFill>
                <a:latin typeface="Segoe UI"/>
              </a:rPr>
              <a:t>Deux types d'événements bien distincts, pour ne notifier le demandeur que sur l'essentiel.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5120640" cy="4069080"/>
          </a:xfrm>
          <a:prstGeom prst="roundRect">
            <a:avLst>
              <a:gd name="adj" fmla="val 6000"/>
            </a:avLst>
          </a:prstGeom>
          <a:solidFill>
            <a:srgbClr val="141A17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21991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2C55E"/>
                </a:solidFill>
                <a:latin typeface="Segoe UI"/>
              </a:rPr>
              <a:t>A · Changement de statut métier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F5F7F6"/>
                </a:solidFill>
                <a:latin typeface="Segoe UI"/>
              </a:rPr>
              <a:t>✓  new → in_progress  —  « Votre ticket a été pris en charge 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1012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F5F7F6"/>
                </a:solidFill>
                <a:latin typeface="Segoe UI"/>
              </a:rPr>
              <a:t>✓  in_progress → resolved  —  « Votre ticket a été résolu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77056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F5F7F6"/>
                </a:solidFill>
                <a:latin typeface="Segoe UI"/>
              </a:rPr>
              <a:t>✓  resolved → closed  —  « Votre ticket est clôturé 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43984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F5F7F6"/>
                </a:solidFill>
                <a:latin typeface="Segoe UI"/>
              </a:rPr>
              <a:t>✓  closed → new (réouverture)  —  « Votre ticket est rouvert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14807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C55E"/>
                </a:solidFill>
                <a:latin typeface="Segoe UI"/>
              </a:rPr>
              <a:t>→ Notifie le demandeur (App + Email selon l'étape).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965960"/>
            <a:ext cx="5120640" cy="4069080"/>
          </a:xfrm>
          <a:prstGeom prst="roundRect">
            <a:avLst>
              <a:gd name="adj" fmla="val 6000"/>
            </a:avLst>
          </a:prstGeom>
          <a:solidFill>
            <a:srgbClr val="141A17"/>
          </a:solidFill>
          <a:ln w="12700">
            <a:solidFill>
              <a:srgbClr val="F5C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221991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C542"/>
                </a:solidFill>
                <a:latin typeface="Segoe UI"/>
              </a:rPr>
              <a:t>B · Transmission entre 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7432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F5F7F6"/>
                </a:solidFill>
                <a:latin typeface="Segoe UI"/>
              </a:rPr>
              <a:t>•  Agent B transmet à Agent C  →  statut inchangé (in_progress)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31012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F5F7F6"/>
                </a:solidFill>
                <a:latin typeface="Segoe UI"/>
              </a:rPr>
              <a:t>•  Agent C transmet à Agent D  →  statut inchangé (in_progress)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877056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F5F7F6"/>
                </a:solidFill>
                <a:latin typeface="Segoe UI"/>
              </a:rPr>
              <a:t>•  Le demandeur ne reçoit aucune notification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443984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F5F7F6"/>
                </a:solidFill>
                <a:latin typeface="Segoe UI"/>
              </a:rPr>
              <a:t>•  Seul le nouvel agent est notifié : « Ticket transmis / à traiter 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14807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C542"/>
                </a:solidFill>
                <a:latin typeface="Segoe UI"/>
              </a:rPr>
              <a:t>→ Ne notifie jamais le demandeur.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CA8A3"/>
                </a:solidFill>
                <a:latin typeface="Segoe UI"/>
              </a:rPr>
              <a:t>EDG Connect — Plateforme de gestion des requêtes EDG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CA8A3"/>
                </a:solidFill>
                <a:latin typeface="Segoe U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C55E"/>
                </a:solidFill>
                <a:latin typeface="Segoe UI"/>
              </a:rPr>
              <a:t>SYNTHÈSE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6"/>
                </a:solidFill>
                <a:latin typeface="Segoe UI"/>
              </a:rPr>
              <a:t>Points clés à retenir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94360" cy="594360"/>
          </a:xfrm>
          <a:prstGeom prst="roundRect">
            <a:avLst>
              <a:gd name="adj" fmla="val 6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5F7F6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81051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2C55E"/>
                </a:solidFill>
                <a:latin typeface="Segoe UI"/>
              </a:rPr>
              <a:t>Position, pas seulement rôle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157984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9CA8A3"/>
                </a:solidFill>
                <a:latin typeface="Segoe UI"/>
              </a:rPr>
              <a:t>Un Agent Support qui crée son propre ticket est traité comme demandeur pour celui-ci — la notification suit la position réelle sur le ticket, pas uniquement le rôle professionnel.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26080"/>
            <a:ext cx="594360" cy="594360"/>
          </a:xfrm>
          <a:prstGeom prst="roundRect">
            <a:avLst>
              <a:gd name="adj" fmla="val 6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5F7F6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90779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2C55E"/>
                </a:solidFill>
                <a:latin typeface="Segoe UI"/>
              </a:rPr>
              <a:t>in_progress = toute la phase active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255264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9CA8A3"/>
                </a:solidFill>
                <a:latin typeface="Segoe UI"/>
              </a:rPr>
              <a:t>Le nombre d'agents qui se succèdent sur un ticket ne change rien à son statut : il reste in_progress jusqu'à résolution.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23360"/>
            <a:ext cx="594360" cy="594360"/>
          </a:xfrm>
          <a:prstGeom prst="roundRect">
            <a:avLst>
              <a:gd name="adj" fmla="val 6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5F7F6"/>
                </a:solidFill>
                <a:latin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00507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2C55E"/>
                </a:solidFill>
                <a:latin typeface="Segoe UI"/>
              </a:rPr>
              <a:t>Notification = événement métier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352544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9CA8A3"/>
                </a:solidFill>
                <a:latin typeface="Segoe UI"/>
              </a:rPr>
              <a:t>Seules les transitions de statut réellement significatives informent le demandeur ; les transmissions internes restent silencieuses pour lui.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120640"/>
            <a:ext cx="594360" cy="594360"/>
          </a:xfrm>
          <a:prstGeom prst="roundRect">
            <a:avLst>
              <a:gd name="adj" fmla="val 6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12064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5F7F6"/>
                </a:solidFill>
                <a:latin typeface="Segoe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10235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2C55E"/>
                </a:solidFill>
                <a:latin typeface="Segoe UI"/>
              </a:rPr>
              <a:t>Historique complet préservé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449824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9CA8A3"/>
                </a:solidFill>
                <a:latin typeface="Segoe UI"/>
              </a:rPr>
              <a:t>Chaque transmission entre agents reste tracée dans l'historique du ticket, même sans notification ni changement de statut.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CA8A3"/>
                </a:solidFill>
                <a:latin typeface="Segoe UI"/>
              </a:rPr>
              <a:t>EDG Connect — Plateforme de gestion des requêtes EDG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CA8A3"/>
                </a:solidFill>
                <a:latin typeface="Segoe U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