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90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EAB30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EAB30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84648" y="1234440"/>
            <a:ext cx="18288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508760"/>
            <a:ext cx="1181686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324612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200" b="1" i="0" spc="50">
                <a:solidFill>
                  <a:srgbClr val="1E2E28"/>
                </a:solidFill>
                <a:latin typeface="Segoe UI Semibold"/>
              </a:rPr>
              <a:t>EDG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7636"/>
                </a:solidFill>
                <a:latin typeface="Segoe UI"/>
              </a:rPr>
              <a:t>Plateforme de gestion et de suivi des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90288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B6B63"/>
                </a:solidFill>
                <a:latin typeface="Segoe UI"/>
              </a:rPr>
              <a:t>Direction des Systèmes d'Information — Électricité de Guinée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89320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40">
                <a:solidFill>
                  <a:srgbClr val="0F7636"/>
                </a:solidFill>
                <a:latin typeface="Segoe UI"/>
              </a:rPr>
              <a:t>CENTRALISER   ·   ORIENTER   ·   TRAITER   ·   SUIVRE   ·   TRACER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522476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LE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Des tickets dispersés, un suivi difficile à assurer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45335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3"/>
                </a:solidFill>
                <a:latin typeface="Segoe UI"/>
              </a:rPr>
              <a:t>Avant EDG Support, les tickets internes de la DSI circulaient sans cadre commun.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58775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64008" cy="2834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532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25496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Centraliser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72968"/>
            <a:ext cx="2075688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Regrouper tous les tickets dans un espace de travail unique, accessible à chaque rôle.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331720"/>
            <a:ext cx="258775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47288" y="2331720"/>
            <a:ext cx="64008" cy="2834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532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825496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Suivre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172968"/>
            <a:ext cx="2075688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Visualiser à tout moment où en est le traitement d'un ticket.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331720"/>
            <a:ext cx="258775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4496" y="2331720"/>
            <a:ext cx="64008" cy="2834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2532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825496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Attribuer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72968"/>
            <a:ext cx="2075688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Savoir clairement qui est responsable du traitement à l'instant présent.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2331720"/>
            <a:ext cx="258775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61704" y="2331720"/>
            <a:ext cx="64008" cy="2834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17736" y="2532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825496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Tracer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72968"/>
            <a:ext cx="2075688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Conserver l'historique de chaque action réalisée sur un ticket.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787652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EDG Support : une plateforme unique pour tout le cycle de vie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2E28"/>
                </a:solidFill>
                <a:latin typeface="Segoe UI"/>
              </a:rPr>
              <a:t>EDG Support centralise la création, le traitement et le suivi des tickets internes de la DSI. Chaque rôle dispose de son propre espace de travail, avec une vue adaptée à ses responsabilités.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953512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8803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2E28"/>
                </a:solidFill>
                <a:latin typeface="Segoe UI"/>
              </a:rPr>
              <a:t>Un espace de travail par rôle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392424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31927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2E28"/>
                </a:solidFill>
                <a:latin typeface="Segoe UI"/>
              </a:rPr>
              <a:t>Suivi en temps réel de chaque ticket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31336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758184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2E28"/>
                </a:solidFill>
                <a:latin typeface="Segoe UI"/>
              </a:rPr>
              <a:t>Un cycle de vie structuré, de la création à la fermeture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481328"/>
            <a:ext cx="5925312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hot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325941"/>
            <a:ext cx="5833872" cy="24712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23560" y="5696712"/>
            <a:ext cx="59253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B6B63"/>
                </a:solidFill>
                <a:latin typeface="Segoe UI"/>
              </a:rPr>
              <a:t>Capture d'écran réelle de l'application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ed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787652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LES ACTEURS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Un espace pour chaque rôle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45335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3"/>
                </a:solidFill>
                <a:latin typeface="Segoe UI"/>
              </a:rPr>
              <a:t>Trois rôles opérationnels dans l'application aujourd'hui.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02152" cy="1768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45719" cy="17683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53288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Employé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80360"/>
            <a:ext cx="2990088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 err="1">
                <a:solidFill>
                  <a:srgbClr val="5B6B63"/>
                </a:solidFill>
                <a:latin typeface="Segoe UI"/>
              </a:rPr>
              <a:t>Crée</a:t>
            </a:r>
            <a:r>
              <a:rPr sz="1100" b="0" i="0" dirty="0">
                <a:solidFill>
                  <a:srgbClr val="5B6B63"/>
                </a:solidFill>
                <a:latin typeface="Segoe UI"/>
              </a:rPr>
              <a:t> un ticket </a:t>
            </a:r>
            <a:r>
              <a:rPr sz="1100" b="0" i="0" dirty="0" err="1">
                <a:solidFill>
                  <a:srgbClr val="5B6B63"/>
                </a:solidFill>
                <a:latin typeface="Segoe UI"/>
              </a:rPr>
              <a:t>depuis</a:t>
            </a:r>
            <a:r>
              <a:rPr sz="1100" b="0" i="0" dirty="0">
                <a:solidFill>
                  <a:srgbClr val="5B6B63"/>
                </a:solidFill>
                <a:latin typeface="Segoe UI"/>
              </a:rPr>
              <a:t> son </a:t>
            </a:r>
            <a:r>
              <a:rPr sz="1100" b="0" i="0" dirty="0" err="1">
                <a:solidFill>
                  <a:srgbClr val="5B6B63"/>
                </a:solidFill>
                <a:latin typeface="Segoe UI"/>
              </a:rPr>
              <a:t>espace</a:t>
            </a:r>
            <a:r>
              <a:rPr sz="1100" b="0" i="0" dirty="0">
                <a:solidFill>
                  <a:srgbClr val="5B6B63"/>
                </a:solidFill>
                <a:latin typeface="Segoe UI"/>
              </a:rPr>
              <a:t> et suit son </a:t>
            </a:r>
            <a:r>
              <a:rPr sz="1100" b="0" i="0" dirty="0" err="1">
                <a:solidFill>
                  <a:srgbClr val="5B6B63"/>
                </a:solidFill>
                <a:latin typeface="Segoe UI"/>
              </a:rPr>
              <a:t>traitement</a:t>
            </a:r>
            <a:r>
              <a:rPr sz="1100" b="0" i="0" dirty="0">
                <a:solidFill>
                  <a:srgbClr val="5B6B63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5B6B63"/>
                </a:solidFill>
                <a:latin typeface="Segoe UI"/>
              </a:rPr>
              <a:t>jusqu'à</a:t>
            </a:r>
            <a:r>
              <a:rPr sz="1100" b="0" i="0" dirty="0">
                <a:solidFill>
                  <a:srgbClr val="5B6B63"/>
                </a:solidFill>
                <a:latin typeface="Segoe UI"/>
              </a:rPr>
              <a:t> la </a:t>
            </a:r>
            <a:r>
              <a:rPr sz="1100" b="0" i="0" dirty="0" err="1">
                <a:solidFill>
                  <a:srgbClr val="5B6B63"/>
                </a:solidFill>
                <a:latin typeface="Segoe UI"/>
              </a:rPr>
              <a:t>résolution</a:t>
            </a:r>
            <a:r>
              <a:rPr sz="1100" b="0" i="0" dirty="0">
                <a:solidFill>
                  <a:srgbClr val="5B6B63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331720"/>
            <a:ext cx="3502152" cy="1768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1688" y="2331720"/>
            <a:ext cx="64008" cy="169950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53288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Agent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80360"/>
            <a:ext cx="2990088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Prend en charge les tickets depuis la file d'attente et assure leur traitement.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331720"/>
            <a:ext cx="3502152" cy="1768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2331720"/>
            <a:ext cx="45719" cy="17683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53288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Administrateur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880360"/>
            <a:ext cx="2990088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Gère les utilisateurs, l'organisation et les paramètres de la plateforme.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787652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LE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Le cycle de vie d'un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45335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3"/>
                </a:solidFill>
                <a:latin typeface="Segoe UI"/>
              </a:rPr>
              <a:t>Le fil conducteur d'EDG Support : de la création à la fermeture, chaque étape est tracée.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" y="2331720"/>
            <a:ext cx="1417320" cy="1051560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" y="2331720"/>
            <a:ext cx="1417320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2708" y="2551176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Création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5296" y="29992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0EA5E9"/>
                </a:solidFill>
                <a:latin typeface="Segoe UI"/>
              </a:rPr>
              <a:t>new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36876" y="2857500"/>
            <a:ext cx="146304" cy="0"/>
          </a:xfrm>
          <a:prstGeom prst="line">
            <a:avLst/>
          </a:prstGeom>
          <a:ln w="25400">
            <a:solidFill>
              <a:srgbClr val="DDE8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3180" y="2331720"/>
            <a:ext cx="1417320" cy="1051560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83180" y="2331720"/>
            <a:ext cx="1417320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6332" y="2551176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File d'attente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9992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0EA5E9"/>
                </a:solidFill>
                <a:latin typeface="Segoe UI"/>
              </a:rPr>
              <a:t>new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00500" y="2857500"/>
            <a:ext cx="146304" cy="0"/>
          </a:xfrm>
          <a:prstGeom prst="line">
            <a:avLst/>
          </a:prstGeom>
          <a:ln w="25400">
            <a:solidFill>
              <a:srgbClr val="DDE8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46804" y="2331720"/>
            <a:ext cx="2331720" cy="105156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46804" y="2331720"/>
            <a:ext cx="2331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19956" y="2551176"/>
            <a:ext cx="21854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Prise / Assignation → Traitement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9744" y="29992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59E0B"/>
                </a:solidFill>
                <a:latin typeface="Segoe UI"/>
              </a:rPr>
              <a:t>in_progress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78524" y="2857500"/>
            <a:ext cx="146304" cy="0"/>
          </a:xfrm>
          <a:prstGeom prst="line">
            <a:avLst/>
          </a:prstGeom>
          <a:ln w="25400">
            <a:solidFill>
              <a:srgbClr val="DDE8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24828" y="2331720"/>
            <a:ext cx="1417320" cy="105156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24828" y="2331720"/>
            <a:ext cx="141732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7980" y="2551176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Résolution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0568" y="29992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Segoe UI"/>
              </a:rPr>
              <a:t>resolved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42148" y="2857500"/>
            <a:ext cx="146304" cy="0"/>
          </a:xfrm>
          <a:prstGeom prst="line">
            <a:avLst/>
          </a:prstGeom>
          <a:ln w="25400">
            <a:solidFill>
              <a:srgbClr val="DDE8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88452" y="2331720"/>
            <a:ext cx="1417320" cy="105156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8452" y="2331720"/>
            <a:ext cx="141732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61604" y="2551176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29992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Segoe UI"/>
              </a:rPr>
              <a:t>appreciation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05772" y="2857500"/>
            <a:ext cx="146304" cy="0"/>
          </a:xfrm>
          <a:prstGeom prst="line">
            <a:avLst/>
          </a:prstGeom>
          <a:ln w="25400">
            <a:solidFill>
              <a:srgbClr val="DDE8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52076" y="2331720"/>
            <a:ext cx="1417320" cy="105156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52076" y="2331720"/>
            <a:ext cx="1417320" cy="8229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25228" y="2551176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Fermeture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57816" y="29992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closed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6804" y="345643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50" b="0" i="1">
                <a:solidFill>
                  <a:srgbClr val="5B6B63"/>
                </a:solidFill>
                <a:latin typeface="Segoe UI"/>
              </a:rPr>
              <a:t>Passage direct à in_progress — pas de statut « assigned » intermédiaire</a:t>
            </a:r>
          </a:p>
          <a:p>
            <a:pPr algn="ctr">
              <a:lnSpc>
                <a:spcPct val="110000"/>
              </a:lnSpc>
            </a:pPr>
            <a:r>
              <a:rPr sz="850" b="0" i="1">
                <a:solidFill>
                  <a:srgbClr val="5B6B63"/>
                </a:solidFill>
                <a:latin typeface="Segoe UI"/>
              </a:rPr>
              <a:t>(BR-QUEUE-AUTO-START-001)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6804" y="2057400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5B6B63"/>
                </a:solidFill>
                <a:latin typeface="Segoe UI"/>
              </a:rPr>
              <a:t>transmission possible entre intervenants (statut inchangé)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460736" y="3383280"/>
            <a:ext cx="0" cy="685800"/>
          </a:xfrm>
          <a:prstGeom prst="line">
            <a:avLst/>
          </a:prstGeom>
          <a:ln w="19050">
            <a:solidFill>
              <a:srgbClr val="D946E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291840" y="4069080"/>
            <a:ext cx="7168896" cy="0"/>
          </a:xfrm>
          <a:prstGeom prst="line">
            <a:avLst/>
          </a:prstGeom>
          <a:ln w="19050">
            <a:solidFill>
              <a:srgbClr val="D946E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291840" y="3383280"/>
            <a:ext cx="0" cy="685800"/>
          </a:xfrm>
          <a:prstGeom prst="line">
            <a:avLst/>
          </a:prstGeom>
          <a:ln w="19050">
            <a:solidFill>
              <a:srgbClr val="D946E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91840" y="4123944"/>
            <a:ext cx="7168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946EF"/>
                </a:solidFill>
                <a:latin typeface="Segoe UI"/>
              </a:rPr>
              <a:t>Réouverture → nouveau cycle (retour en file d'attente)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57300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ÉTAPE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Créer un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45335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3"/>
                </a:solidFill>
                <a:latin typeface="Segoe UI"/>
              </a:rPr>
              <a:t>Un formulaire simple : l'essentiel pour démarrer le traitement.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hot_new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34914"/>
            <a:ext cx="5029200" cy="38111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0167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B6B63"/>
                </a:solidFill>
                <a:latin typeface="Segoe UI"/>
              </a:rPr>
              <a:t>Capture d'écran réelle — formulaire de création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488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Ce qui se passe ensuite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2697480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2491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Le ticket est enregistré avec le statut « Nouveau » (new).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383280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41071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Une référence unique lui est attribuée pour le suivi.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4069080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09651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Il rejoint immédiatement la file d'attente pour qualification.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ed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57300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ÉTAPE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File d'attente : point de départ du traitement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98932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hot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46997"/>
            <a:ext cx="5897880" cy="1884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32704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B6B63"/>
                </a:solidFill>
                <a:latin typeface="Segoe UI"/>
              </a:rPr>
              <a:t>Capture d'écran réelle — File d'attente</a:t>
            </a:r>
          </a:p>
        </p:txBody>
      </p:sp>
      <p:sp>
        <p:nvSpPr>
          <p:cNvPr id="8" name="Oval 7"/>
          <p:cNvSpPr/>
          <p:nvPr/>
        </p:nvSpPr>
        <p:spPr>
          <a:xfrm>
            <a:off x="7086600" y="1792224"/>
            <a:ext cx="118872" cy="11887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79208" y="1737360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Tickets en attente de qualification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2066544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Référence, priorité et demandeur affichés pour chaque ticket non orienté.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0" y="2752344"/>
            <a:ext cx="118872" cy="11887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79208" y="2697480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Prise ou assignation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3026664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Un agent prend le ticket, ou l'assigne à un intervenant précis.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3712464"/>
            <a:ext cx="118872" cy="11887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9208" y="3657600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Démarrage immédiat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3986784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Dès la prise en charge, le traitement débute — statut en cours.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4672584"/>
            <a:ext cx="118872" cy="11887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9208" y="4617720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Notification automatique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4946904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L'intervenant assigné reçoit une notification en temps réel.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ed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57300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ÉTAPE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Un traitement dynamique et transmissible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011680"/>
            <a:ext cx="3291840" cy="155448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8720" y="2011680"/>
            <a:ext cx="329184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2231136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Intervenant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318211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59E0B"/>
                </a:solidFill>
                <a:latin typeface="Segoe UI"/>
              </a:rPr>
              <a:t>in_progress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1135" y="2011680"/>
            <a:ext cx="3291840" cy="155448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11135" y="2011680"/>
            <a:ext cx="329184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84287" y="2231136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Intervenant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54135" y="318211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59E0B"/>
                </a:solidFill>
                <a:latin typeface="Segoe UI"/>
              </a:rPr>
              <a:t>in_progress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786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63"/>
                </a:solidFill>
                <a:latin typeface="Segoe UI"/>
              </a:rPr>
              <a:t>responsable actuel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1135" y="25786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63"/>
                </a:solidFill>
                <a:latin typeface="Segoe UI"/>
              </a:rPr>
              <a:t>nouveau responsable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788920"/>
            <a:ext cx="3230575" cy="0"/>
          </a:xfrm>
          <a:prstGeom prst="line">
            <a:avLst/>
          </a:prstGeom>
          <a:ln w="28575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80560" y="2377440"/>
            <a:ext cx="323057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F7636"/>
                </a:solidFill>
                <a:latin typeface="Segoe UI"/>
              </a:rPr>
              <a:t>Transmission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258775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343400"/>
            <a:ext cx="218541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E2E28"/>
                </a:solidFill>
                <a:latin typeface="Segoe UI"/>
              </a:rPr>
              <a:t>L'intervenant traite le ticket : commentaires et pièces jointes.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7288" y="4160520"/>
            <a:ext cx="258775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8456" y="4343400"/>
            <a:ext cx="218541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E2E28"/>
                </a:solidFill>
                <a:latin typeface="Segoe UI"/>
              </a:rPr>
              <a:t>Il peut transmettre le traitement à un autre agent.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4160520"/>
            <a:ext cx="258775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4343400"/>
            <a:ext cx="218541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E2E28"/>
                </a:solidFill>
                <a:latin typeface="Segoe UI"/>
              </a:rPr>
              <a:t>Le nouveau titulaire devient responsable du ticket.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4160520"/>
            <a:ext cx="258775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62872" y="4343400"/>
            <a:ext cx="218541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E2E28"/>
                </a:solidFill>
                <a:latin typeface="Segoe UI"/>
              </a:rPr>
              <a:t>Un seul responsable actif à la fois — l'historique reste visible.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57300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ÉTAPE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Résolution, validation, fermeture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45335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3"/>
                </a:solidFill>
                <a:latin typeface="Segoe UI"/>
              </a:rPr>
              <a:t>Trois actions distinctes, chacune horodatée et tracée.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85316" y="2331720"/>
            <a:ext cx="2834640" cy="118872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5316" y="2331720"/>
            <a:ext cx="283464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58468" y="2551176"/>
            <a:ext cx="26883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Résolution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9716" y="313639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Segoe UI"/>
              </a:rPr>
              <a:t>resolved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19956" y="2926080"/>
            <a:ext cx="457200" cy="0"/>
          </a:xfrm>
          <a:prstGeom prst="line">
            <a:avLst/>
          </a:prstGeom>
          <a:ln w="25400">
            <a:solidFill>
              <a:srgbClr val="DDE8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77156" y="2331720"/>
            <a:ext cx="2834640" cy="118872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77156" y="2331720"/>
            <a:ext cx="283464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0308" y="2551176"/>
            <a:ext cx="26883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91556" y="313639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Segoe UI"/>
              </a:rPr>
              <a:t>appreciation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11796" y="2926080"/>
            <a:ext cx="457200" cy="0"/>
          </a:xfrm>
          <a:prstGeom prst="line">
            <a:avLst/>
          </a:prstGeom>
          <a:ln w="25400">
            <a:solidFill>
              <a:srgbClr val="DDE8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68996" y="2331720"/>
            <a:ext cx="2834640" cy="118872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68996" y="2331720"/>
            <a:ext cx="2834640" cy="8229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2148" y="2551176"/>
            <a:ext cx="26883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E28"/>
                </a:solidFill>
                <a:latin typeface="Segoe UI Semibold"/>
              </a:rPr>
              <a:t>Fermeture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3396" y="313639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closed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5316" y="379476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L'intervenant clôture le traitement avec un résumé de la solution apportée.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7156" y="379476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Le demandeur confirme (ou non) que la résolution répond à son besoin.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8996" y="379476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Le ticket est officiellement fermé — action distincte de la résolution.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709160"/>
            <a:ext cx="10177272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0F7636"/>
                </a:solidFill>
                <a:latin typeface="Segoe UI"/>
              </a:rPr>
              <a:t>« Trois actions, trois traces distinctes dans l'historique du ticket. 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052827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Des notifications à chaque étape clé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45335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3"/>
                </a:solidFill>
                <a:latin typeface="Segoe UI"/>
              </a:rPr>
              <a:t>Les notifications accompagnent le workflow — elles n'en sont pas indépendantes.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2350008"/>
            <a:ext cx="146304" cy="146304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1343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E28"/>
                </a:solidFill>
                <a:latin typeface="Segoe UI Semibold"/>
              </a:rPr>
              <a:t>Création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79192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Le demandeur reçoit la confirmation de son ticket.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1488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35424" y="2350008"/>
            <a:ext cx="146304" cy="146304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91456" y="231343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E28"/>
                </a:solidFill>
                <a:latin typeface="Segoe UI Semibold"/>
              </a:rPr>
              <a:t>Prise en 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679192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L'intervenant assigné est notifié.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21488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2350008"/>
            <a:ext cx="146304" cy="146304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231343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E28"/>
                </a:solidFill>
                <a:latin typeface="Segoe UI Semibold"/>
              </a:rPr>
              <a:t>Transmission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79192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Le nouveau titulaire et l'ancien sont notifiés.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8" y="3767328"/>
            <a:ext cx="146304" cy="146304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73075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E28"/>
                </a:solidFill>
                <a:latin typeface="Segoe UI Semibold"/>
              </a:rPr>
              <a:t>Résolution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096512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Le demandeur est notifié, avec option de confirmer ou rouvrir.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356616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35424" y="3767328"/>
            <a:ext cx="146304" cy="146304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91456" y="373075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E28"/>
                </a:solidFill>
                <a:latin typeface="Segoe UI Semibold"/>
              </a:rPr>
              <a:t>Fermeture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4096512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Le demandeur est notifié de la clôture.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356616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29600" y="3767328"/>
            <a:ext cx="146304" cy="146304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85632" y="373075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E28"/>
                </a:solidFill>
                <a:latin typeface="Segoe UI Semibold"/>
              </a:rPr>
              <a:t>Réouverture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096512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B63"/>
                </a:solidFill>
                <a:latin typeface="Segoe UI"/>
              </a:rPr>
              <a:t>Le service concerné est notifié du nouveau cycle.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B63"/>
                </a:solidFill>
                <a:latin typeface="Segoe UI"/>
              </a:rPr>
              <a:t>Notifications en temps réel dans l'application ; certaines étapes envoient également un email.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787652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TRAÇABILITÉ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Chaque étape du traitement est traçable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846320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810512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E28"/>
                </a:solidFill>
                <a:latin typeface="Segoe UI"/>
              </a:rPr>
              <a:t>Historique chronologique de chaque événement du ticket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7744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E28"/>
                </a:solidFill>
                <a:latin typeface="Segoe UI"/>
              </a:rPr>
              <a:t>Statuts et changements horodatés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44368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712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E28"/>
                </a:solidFill>
                <a:latin typeface="Segoe UI"/>
              </a:rPr>
              <a:t>Intervenants successifs clairement identifiés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1129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E28"/>
                </a:solidFill>
                <a:latin typeface="Segoe UI"/>
              </a:rPr>
              <a:t>Commentaires et échanges conservés dans le fil du ticket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417320"/>
            <a:ext cx="574243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5361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B6B63"/>
                </a:solidFill>
                <a:latin typeface="Segoe UI"/>
              </a:rPr>
              <a:t>Fil chronologique (illustration du principe)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1965960"/>
            <a:ext cx="0" cy="2560320"/>
          </a:xfrm>
          <a:prstGeom prst="line">
            <a:avLst/>
          </a:prstGeom>
          <a:ln w="19050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108192" y="1901952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185623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Ticket créé</a:t>
            </a:r>
          </a:p>
        </p:txBody>
      </p:sp>
      <p:sp>
        <p:nvSpPr>
          <p:cNvPr id="19" name="Oval 18"/>
          <p:cNvSpPr/>
          <p:nvPr/>
        </p:nvSpPr>
        <p:spPr>
          <a:xfrm>
            <a:off x="6108192" y="2414016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236829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Qualifié et orienté</a:t>
            </a:r>
          </a:p>
        </p:txBody>
      </p:sp>
      <p:sp>
        <p:nvSpPr>
          <p:cNvPr id="21" name="Oval 20"/>
          <p:cNvSpPr/>
          <p:nvPr/>
        </p:nvSpPr>
        <p:spPr>
          <a:xfrm>
            <a:off x="6108192" y="29260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28803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Pris en charge</a:t>
            </a:r>
          </a:p>
        </p:txBody>
      </p:sp>
      <p:sp>
        <p:nvSpPr>
          <p:cNvPr id="23" name="Oval 22"/>
          <p:cNvSpPr/>
          <p:nvPr/>
        </p:nvSpPr>
        <p:spPr>
          <a:xfrm>
            <a:off x="6108192" y="343814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39242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Commentaire ajouté</a:t>
            </a:r>
          </a:p>
        </p:txBody>
      </p:sp>
      <p:sp>
        <p:nvSpPr>
          <p:cNvPr id="25" name="Oval 24"/>
          <p:cNvSpPr/>
          <p:nvPr/>
        </p:nvSpPr>
        <p:spPr>
          <a:xfrm>
            <a:off x="6108192" y="395020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390448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Résolu</a:t>
            </a:r>
          </a:p>
        </p:txBody>
      </p:sp>
      <p:sp>
        <p:nvSpPr>
          <p:cNvPr id="27" name="Oval 26"/>
          <p:cNvSpPr/>
          <p:nvPr/>
        </p:nvSpPr>
        <p:spPr>
          <a:xfrm>
            <a:off x="6108192" y="4462272"/>
            <a:ext cx="128016" cy="128016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441655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E28"/>
                </a:solidFill>
                <a:latin typeface="Segoe UI"/>
              </a:rPr>
              <a:t>Fermé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1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892040"/>
            <a:ext cx="10177272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1">
                <a:solidFill>
                  <a:srgbClr val="0F7636"/>
                </a:solidFill>
                <a:latin typeface="Segoe UI"/>
              </a:rPr>
              <a:t>« Chaque étape du traitement est traçable. 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D1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/>
          <a:lstStyle/>
          <a:p>
            <a:pPr algn="ctr"/>
            <a:r>
              <a:rPr sz="1050" b="1" spc="110">
                <a:solidFill>
                  <a:srgbClr val="0F7636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3544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E28"/>
                </a:solidFill>
                <a:latin typeface="Segoe UI Semibold"/>
              </a:rPr>
              <a:t>Ce qu'EDG Support apporte aujourd'hui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Centralisation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34640"/>
            <a:ext cx="30083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Tous les tickets internes dans un espace unique.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4256" y="228600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487168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Visibilité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834640"/>
            <a:ext cx="30083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Un responsable clairement identifié à chaque instant.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2860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28432" y="228600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2487168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Suivi en temps réel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834640"/>
            <a:ext cx="30083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L'avancement du traitement est toujours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64008" cy="132588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995928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Traitement collaboratif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343400"/>
            <a:ext cx="30083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Transmission fluide entre intervenants.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379476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34256" y="3794760"/>
            <a:ext cx="64008" cy="132588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995928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Notifications automatiques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343400"/>
            <a:ext cx="30083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Chaque étape clé déclenche une alerte.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379476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8432" y="3794760"/>
            <a:ext cx="64008" cy="132588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3995928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E28"/>
                </a:solidFill>
                <a:latin typeface="Segoe UI Semibold"/>
              </a:rPr>
              <a:t>Traçabilité complète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4343400"/>
            <a:ext cx="30083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B63"/>
                </a:solidFill>
                <a:latin typeface="Segoe UI"/>
              </a:rPr>
              <a:t>Historique conservé du début à la fin.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9525">
            <a:solidFill>
              <a:srgbClr val="DDE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28816"/>
            <a:ext cx="202575" cy="219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5B6B63"/>
                </a:solidFill>
                <a:latin typeface="Segoe UI"/>
              </a:rPr>
              <a:t>EDG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9672"/>
            <a:ext cx="112471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3"/>
                </a:solidFill>
                <a:latin typeface="Segoe U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EAB30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EAB30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d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051560"/>
            <a:ext cx="801858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148840"/>
            <a:ext cx="94457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800" b="1" i="0" spc="50">
                <a:solidFill>
                  <a:srgbClr val="1E2E28"/>
                </a:solidFill>
                <a:latin typeface="Segoe UI Semibold"/>
              </a:rPr>
              <a:t>EDG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32004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900" b="1" i="1">
                <a:solidFill>
                  <a:srgbClr val="0F7636"/>
                </a:solidFill>
                <a:latin typeface="Segoe UI"/>
              </a:rPr>
              <a:t>Centraliser, orienter, traiter, suivre et tracer les tickets</a:t>
            </a:r>
          </a:p>
          <a:p>
            <a:pPr algn="ctr">
              <a:lnSpc>
                <a:spcPct val="130000"/>
              </a:lnSpc>
            </a:pPr>
            <a:r>
              <a:rPr sz="1900" b="1" i="1">
                <a:solidFill>
                  <a:srgbClr val="0F7636"/>
                </a:solidFill>
                <a:latin typeface="Segoe UI"/>
              </a:rPr>
              <a:t>à travers un workflow structuré.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06440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B63"/>
                </a:solidFill>
                <a:latin typeface="Segoe UI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893</Words>
  <Application>Microsoft Office PowerPoint</Application>
  <PresentationFormat>Grand écran</PresentationFormat>
  <Paragraphs>172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Segoe UI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GASPARD KAMAN GOEPO</cp:lastModifiedBy>
  <cp:revision>2</cp:revision>
  <dcterms:created xsi:type="dcterms:W3CDTF">2013-01-27T09:14:16Z</dcterms:created>
  <dcterms:modified xsi:type="dcterms:W3CDTF">2026-08-18T13:08:21Z</dcterms:modified>
  <cp:category/>
</cp:coreProperties>
</file>